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E1F61-896B-5650-43EE-76B6CAD77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AE49C-9508-4CB8-7372-96AEAB9FD1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4084-A53A-10D1-616C-E5EC93098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6C6F6-619F-E975-D1D3-02A8EED98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20324-C48E-9E3D-3AED-FFB32D4BC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68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DE5BD-6684-6467-2F49-A8D2B87E2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7AE5B-5984-DB61-350D-339C826CD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D75A6-4B27-8DEC-D6E9-C4EB32F96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8E6F-2AA3-3C81-0849-214070EE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1067A-278E-1100-362B-E5D24A09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775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286F-8F72-80AF-9461-6F5B8FB16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1498-BE42-5FAC-DE48-1B061F324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955FB-2576-9F63-6B24-1BC8281E9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5679B-B17F-E60A-9C46-BFA8A042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A19BC-6B98-BE06-A402-52A53E13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2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4CD6F-A2A9-2E67-7749-0FF1A3126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DEC0A-4240-F5F7-171B-62BDC7E7E2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D9BFBC-6780-B830-4CF0-517F33E72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2411CC-07A5-2540-336D-31A34DB4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6A3FB-73BC-5336-2DF0-AF3CE31C1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BC36F-A42E-42FB-CFB3-DFE48DD36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16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FA515-7A45-A2BC-D581-7E4CAF4D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22595-453E-BEDC-327B-4464E81BC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A6FB3-BC3E-6636-5656-467D2DE7F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EFC815-502D-FD69-BA71-CE9DD4E78C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170DC0-9B9F-42FC-0DF9-F476E30C3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564C4-DAC1-C099-B621-5D2388C36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93C6C7-D41F-81E7-BA94-2E7159172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A1F0AF-2033-C699-C86E-AB32B498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01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55B44-6274-A235-969D-DED2FB0FE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3B9B0-7A29-5FA7-1877-C7C8BF99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481-856D-673B-475C-C74D4D4DD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2446F-6B23-68DD-38B0-CAF3DE74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36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A981BE-8FAD-46FA-9B5C-B801CD5AF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618641-FF57-343F-54C7-04347A93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89B8E-E9F6-FF0F-B8FE-D0D9C0FD1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16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8CFC0-71B0-817E-3043-5963A2925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2B640-3A01-E48E-28E0-14E80852D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FA8C0D-2E50-C32B-67DF-52AEE04C5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14F751-FC60-FB58-03B8-F1C17812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61B79-4F6F-477F-BB8A-48010722A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78E61-6FAC-01ED-A2E7-11F63C73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8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CCDAD-FAF8-CD41-B0E0-8ECABF22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6AE384-01EB-0179-B496-3A400A8401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CDB51-68C9-F7C0-49FA-099EFE98C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8EF92C-8A76-ACEE-7EAF-A86897CF1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9EEFE-ABFA-DF46-751E-BA17D8E8A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FF6A5B-76FE-B29E-A077-F46EB3AF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129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D5AF-4E5D-E565-6B76-BB899F15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14814-181C-F183-3194-06BAF42706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A1D9A-8976-5BDA-2EC9-1160B1709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3523A-260D-96A5-E127-F112C088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EAE27-ADC9-5600-D8C3-E4ADE4731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9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A5BE77-24BB-979E-3746-F5124F7D89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9C3DD-B2E0-CAF3-E815-4B446E58D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BA869-73BA-C53E-2224-404B8B20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677614-71F8-6AC6-65CA-77FA0A2B2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0185A-6582-DBFF-F475-83C5C2683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7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A7CA12-2B3F-2EB3-FEE4-D4B05757B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7D5B3-8FA8-4A8F-8566-64D637B10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4AB20-572E-7D68-6BA5-AB0ABBC966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8D0530-9F5A-457C-8891-D7C708B046A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A1721-DA03-FE50-5F09-B6C3D654B5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0E55B-11A5-EC1A-FEB7-412F9707B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89E99F-F6C0-4E89-97EC-5497B30DE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86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92CD6-5D1E-ACE9-3D74-4986EB1C3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778000"/>
            <a:ext cx="14732000" cy="1270000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rgbClr val="FFFFFF"/>
                </a:solidFill>
                <a:latin typeface="Arial" panose="020B0604020202020204" pitchFamily="34" charset="0"/>
              </a:rPr>
              <a:t>AI INTERVIEW INBOX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42E458-CCA7-A94E-12C9-AE4B5D989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8000" y="3556000"/>
            <a:ext cx="12700000" cy="15240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3A7BFF"/>
                </a:solidFill>
                <a:latin typeface="Calibri" panose="020F0502020204030204" pitchFamily="34" charset="0"/>
              </a:rPr>
              <a:t>Executive Architecture &amp; KPI Overview
AI-Powered Operational Intelligence System</a:t>
            </a:r>
          </a:p>
        </p:txBody>
      </p:sp>
    </p:spTree>
    <p:extLst>
      <p:ext uri="{BB962C8B-B14F-4D97-AF65-F5344CB8AC3E}">
        <p14:creationId xmlns:p14="http://schemas.microsoft.com/office/powerpoint/2010/main" val="404563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ACBA0B-E005-2D71-B491-33EA3E060392}"/>
              </a:ext>
            </a:extLst>
          </p:cNvPr>
          <p:cNvSpPr/>
          <p:nvPr/>
        </p:nvSpPr>
        <p:spPr>
          <a:xfrm>
            <a:off x="762000" y="1524000"/>
            <a:ext cx="4191000" cy="3048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EMAIL INTAKE
Student -&gt; Recruiter Email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AA13BB-8FDB-5CE0-B1DE-78F72196A2FC}"/>
              </a:ext>
            </a:extLst>
          </p:cNvPr>
          <p:cNvSpPr/>
          <p:nvPr/>
        </p:nvSpPr>
        <p:spPr>
          <a:xfrm>
            <a:off x="5905500" y="1524000"/>
            <a:ext cx="4191000" cy="3048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AI DECISION ENGINE
Classification
Data Extraction
Confidence Scoring
Business Rules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685B78-8E53-36E6-D0EA-473A4AA9C5D1}"/>
              </a:ext>
            </a:extLst>
          </p:cNvPr>
          <p:cNvSpPr/>
          <p:nvPr/>
        </p:nvSpPr>
        <p:spPr>
          <a:xfrm>
            <a:off x="11049000" y="1524000"/>
            <a:ext cx="4191000" cy="3048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Calibri" panose="020F0502020204030204" pitchFamily="34" charset="0"/>
              </a:rPr>
              <a:t>AUTOMATED ACTIONS
Live Tracking
Secure Logging
Instant Student Alerts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106E03-D266-9697-800D-FBF1AF5B6304}"/>
              </a:ext>
            </a:extLst>
          </p:cNvPr>
          <p:cNvSpPr txBox="1"/>
          <p:nvPr/>
        </p:nvSpPr>
        <p:spPr>
          <a:xfrm>
            <a:off x="5143500" y="2603500"/>
            <a:ext cx="5715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600" b="1">
                <a:solidFill>
                  <a:srgbClr val="3A7BFF"/>
                </a:solidFill>
                <a:latin typeface="Arial" panose="020B0604020202020204" pitchFamily="34" charset="0"/>
              </a:rPr>
              <a:t>-&gt;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7FEF4F-08D3-2C1F-5793-08989B629F50}"/>
              </a:ext>
            </a:extLst>
          </p:cNvPr>
          <p:cNvSpPr txBox="1"/>
          <p:nvPr/>
        </p:nvSpPr>
        <p:spPr>
          <a:xfrm>
            <a:off x="10287000" y="2603500"/>
            <a:ext cx="5715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600" b="1">
                <a:solidFill>
                  <a:srgbClr val="3A7BFF"/>
                </a:solidFill>
                <a:latin typeface="Arial" panose="020B0604020202020204" pitchFamily="34" charset="0"/>
              </a:rPr>
              <a:t>-&gt;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6B77F7-25A7-77FE-E07E-A40A00074293}"/>
              </a:ext>
            </a:extLst>
          </p:cNvPr>
          <p:cNvSpPr txBox="1"/>
          <p:nvPr/>
        </p:nvSpPr>
        <p:spPr>
          <a:xfrm>
            <a:off x="762000" y="5334000"/>
            <a:ext cx="144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200" b="1">
                <a:solidFill>
                  <a:srgbClr val="3A7BFF"/>
                </a:solidFill>
                <a:latin typeface="Arial" panose="020B0604020202020204" pitchFamily="34" charset="0"/>
              </a:rPr>
              <a:t>HUMAN OVERSIGHT  |  Low Confidence -&gt; Manual 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929B7-B5FE-43A3-68A5-D24A50051C0E}"/>
              </a:ext>
            </a:extLst>
          </p:cNvPr>
          <p:cNvSpPr txBox="1"/>
          <p:nvPr/>
        </p:nvSpPr>
        <p:spPr>
          <a:xfrm>
            <a:off x="762000" y="6350000"/>
            <a:ext cx="1447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FFFFFF"/>
                </a:solidFill>
                <a:latin typeface="Calibri" panose="020F0502020204030204" pitchFamily="34" charset="0"/>
              </a:rPr>
              <a:t>&lt; 30 sec processing | 95%+ accuracy | &lt;5% manual review | Real-time alerts</a:t>
            </a:r>
          </a:p>
        </p:txBody>
      </p:sp>
    </p:spTree>
    <p:extLst>
      <p:ext uri="{BB962C8B-B14F-4D97-AF65-F5344CB8AC3E}">
        <p14:creationId xmlns:p14="http://schemas.microsoft.com/office/powerpoint/2010/main" val="1066990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BBB78D-7C5A-CA6E-1742-103119185E33}"/>
              </a:ext>
            </a:extLst>
          </p:cNvPr>
          <p:cNvSpPr txBox="1"/>
          <p:nvPr/>
        </p:nvSpPr>
        <p:spPr>
          <a:xfrm>
            <a:off x="1524000" y="508000"/>
            <a:ext cx="13716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OPERATIONAL PERFORMANCE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9C4CB6E-EFD5-2F5C-AC4A-95CDEA433535}"/>
              </a:ext>
            </a:extLst>
          </p:cNvPr>
          <p:cNvSpPr/>
          <p:nvPr/>
        </p:nvSpPr>
        <p:spPr>
          <a:xfrm>
            <a:off x="889000" y="1778000"/>
            <a:ext cx="3429000" cy="2159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&lt; 30 Seconds
Average Processing Time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D7332C-243F-179A-DF51-9C4F7A4CD9CC}"/>
              </a:ext>
            </a:extLst>
          </p:cNvPr>
          <p:cNvSpPr/>
          <p:nvPr/>
        </p:nvSpPr>
        <p:spPr>
          <a:xfrm>
            <a:off x="4572000" y="1778000"/>
            <a:ext cx="3429000" cy="2159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95%+
Classification Accuracy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CC55A9-D71B-A3D1-A909-0CC89CFCAB8D}"/>
              </a:ext>
            </a:extLst>
          </p:cNvPr>
          <p:cNvSpPr/>
          <p:nvPr/>
        </p:nvSpPr>
        <p:spPr>
          <a:xfrm>
            <a:off x="8255000" y="1778000"/>
            <a:ext cx="3429000" cy="2159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alibri" panose="020F0502020204030204" pitchFamily="34" charset="0"/>
              </a:rPr>
              <a:t>&lt; 5%
Manual Review Rate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68AC91-EB69-D7D9-3EC1-C9EC977F7FD5}"/>
              </a:ext>
            </a:extLst>
          </p:cNvPr>
          <p:cNvSpPr/>
          <p:nvPr/>
        </p:nvSpPr>
        <p:spPr>
          <a:xfrm>
            <a:off x="11938000" y="1778000"/>
            <a:ext cx="3429000" cy="2159000"/>
          </a:xfrm>
          <a:prstGeom prst="rect">
            <a:avLst/>
          </a:prstGeom>
          <a:solidFill>
            <a:srgbClr val="2E2E2E"/>
          </a:solidFill>
          <a:ln>
            <a:solidFill>
              <a:srgbClr val="3A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>
                <a:solidFill>
                  <a:srgbClr val="FFFFFF"/>
                </a:solidFill>
                <a:latin typeface="Calibri" panose="020F0502020204030204" pitchFamily="34" charset="0"/>
              </a:rPr>
              <a:t>98%+
WhatsApp Delivery Success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7DD02-B17E-50ED-7283-9D5CBBE041B4}"/>
              </a:ext>
            </a:extLst>
          </p:cNvPr>
          <p:cNvSpPr txBox="1"/>
          <p:nvPr/>
        </p:nvSpPr>
        <p:spPr>
          <a:xfrm>
            <a:off x="2286000" y="4826000"/>
            <a:ext cx="11684000" cy="120032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>
                <a:solidFill>
                  <a:srgbClr val="3A7BFF"/>
                </a:solidFill>
                <a:latin typeface="Calibri" panose="020F0502020204030204" pitchFamily="34" charset="0"/>
              </a:rPr>
              <a:t>Classification Accuracy - 95%
WhatsApp Delivery - 98%
Manual Review Rate - 5%</a:t>
            </a:r>
          </a:p>
        </p:txBody>
      </p:sp>
    </p:spTree>
    <p:extLst>
      <p:ext uri="{BB962C8B-B14F-4D97-AF65-F5344CB8AC3E}">
        <p14:creationId xmlns:p14="http://schemas.microsoft.com/office/powerpoint/2010/main" val="51035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AI INTERVIEW INBOX AUTOMATION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Campbell</dc:creator>
  <cp:lastModifiedBy>Lauren Campbell</cp:lastModifiedBy>
  <cp:revision>1</cp:revision>
  <dcterms:created xsi:type="dcterms:W3CDTF">2026-03-03T14:58:48Z</dcterms:created>
  <dcterms:modified xsi:type="dcterms:W3CDTF">2026-03-03T14:58:59Z</dcterms:modified>
</cp:coreProperties>
</file>