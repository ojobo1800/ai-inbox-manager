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11457432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600">
                <a:solidFill>
                  <a:srgbClr val="1F497D"/>
                </a:solidFill>
              </a:rPr>
              <a:t>Enrollment Monitoring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800">
                <a:solidFill>
                  <a:srgbClr val="2E74B5"/>
                </a:solidFill>
              </a:rPr>
              <a:t>October 2024  |  Presenter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063240"/>
            <a:ext cx="9445752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200400"/>
            <a:ext cx="9235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</a:rPr>
              <a:t>What this dashboard tracks:</a:t>
            </a:r>
          </a:p>
          <a:p>
            <a:pPr algn="l"/>
            <a:r>
              <a:rPr sz="1400" b="0">
                <a:solidFill>
                  <a:srgbClr val="404040"/>
                </a:solidFill>
              </a:rPr>
              <a:t>  •  How many seats are being used across all courses and sections</a:t>
            </a:r>
          </a:p>
          <a:p>
            <a:pPr algn="l"/>
            <a:r>
              <a:rPr sz="1400" b="0">
                <a:solidFill>
                  <a:srgbClr val="404040"/>
                </a:solidFill>
              </a:rPr>
              <a:t>  •  Which sections are closed, open, or need to be built</a:t>
            </a:r>
          </a:p>
          <a:p>
            <a:pPr algn="l"/>
            <a:r>
              <a:rPr sz="1400" b="0">
                <a:solidFill>
                  <a:srgbClr val="404040"/>
                </a:solidFill>
              </a:rPr>
              <a:t>  •  Department-level seat demand and course-level fill rates</a:t>
            </a:r>
          </a:p>
          <a:p>
            <a:pPr algn="l"/>
            <a:r>
              <a:rPr sz="1400" b="0">
                <a:solidFill>
                  <a:srgbClr val="404040"/>
                </a:solidFill>
              </a:rPr>
              <a:t>  •  Delivery modality mix (Face-to-Face vs. Online)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BDD7EE"/>
                </a:solidFill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FFFFFF"/>
                </a:solidFill>
              </a:rPr>
              <a:t>Dashboard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404040"/>
                </a:solidFill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404040"/>
                </a:solidFill>
              </a:rPr>
              <a:t>The dashboard is divided into four zones: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74320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5270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1.  KPI Summary Cards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011680"/>
            <a:ext cx="2523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04040"/>
                </a:solidFill>
              </a:rPr>
              <a:t>Top row — five headline numbers that give an instant health 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08760"/>
            <a:ext cx="274320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5270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2.  Detail Data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92024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2011680"/>
            <a:ext cx="2523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04040"/>
                </a:solidFill>
              </a:rPr>
              <a:t>Middle — row-level breakdown by course, modality, and location.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508760"/>
            <a:ext cx="274320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5270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3.  Charts (bottom-left &amp; center)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92024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011680"/>
            <a:ext cx="2523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04040"/>
                </a:solidFill>
              </a:rPr>
              <a:t>Seats by department  +  Modality mix donut chart.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508760"/>
            <a:ext cx="2743200" cy="411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15270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</a:rPr>
              <a:t>4.  Fill Rate Chart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920240"/>
            <a:ext cx="2743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2011680"/>
            <a:ext cx="2523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04040"/>
                </a:solidFill>
              </a:rPr>
              <a:t>Bottom-right — open fill rate % for every course, sorted visually.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2E74B5"/>
                </a:solidFill>
              </a:rPr>
              <a:t>Tip for presenters: Start at the top-left KPI cards and move clockwise to tell a complete enrollment 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FFFFFF"/>
                </a:solidFill>
              </a:rPr>
              <a:t>Zone 1  —  KPI Summary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404040"/>
                </a:solidFill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04040"/>
                </a:solidFill>
              </a:rPr>
              <a:t>These five cards across the top of the dashboard are your headline numbers. Each one answers a specific management question at a glance.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08760"/>
            <a:ext cx="21945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600">
                <a:solidFill>
                  <a:srgbClr val="1F497D"/>
                </a:solidFill>
              </a:rPr>
              <a:t>27,307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011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404040"/>
                </a:solidFill>
              </a:rPr>
              <a:t>Total Seats Used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514600"/>
            <a:ext cx="2194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578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2E74B5"/>
                </a:solidFill>
              </a:rPr>
              <a:t>What to say: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834640"/>
            <a:ext cx="20116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404040"/>
                </a:solidFill>
              </a:rPr>
              <a:t>The total number of student seat enrollments recorded across all active sections as of the last run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7752" y="1508760"/>
            <a:ext cx="21945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600">
                <a:solidFill>
                  <a:srgbClr val="2E74B5"/>
                </a:solidFill>
              </a:rPr>
              <a:t>642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011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404040"/>
                </a:solidFill>
              </a:rPr>
              <a:t>Closed Sections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87752" y="2514600"/>
            <a:ext cx="2194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2" y="2578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2E74B5"/>
                </a:solidFill>
              </a:rPr>
              <a:t>What to say: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2834640"/>
            <a:ext cx="20116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404040"/>
                </a:solidFill>
              </a:rPr>
              <a:t>Sections that have reached capacity and are no longer accepting new enrollments.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46904" y="1508760"/>
            <a:ext cx="21945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4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600">
                <a:solidFill>
                  <a:srgbClr val="70AD47"/>
                </a:solidFill>
              </a:rPr>
              <a:t>1,505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2011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404040"/>
                </a:solidFill>
              </a:rPr>
              <a:t>Open Sections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46904" y="2514600"/>
            <a:ext cx="2194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8344" y="2578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2E74B5"/>
                </a:solidFill>
              </a:rPr>
              <a:t>What to say: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8344" y="2834640"/>
            <a:ext cx="20116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404040"/>
                </a:solidFill>
              </a:rPr>
              <a:t>Sections still accepting enrollments — seats are available for students to fill.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6056" y="1508760"/>
            <a:ext cx="21945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1776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600">
                <a:solidFill>
                  <a:srgbClr val="C00000"/>
                </a:solidFill>
              </a:rPr>
              <a:t>−325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6" y="2011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404040"/>
                </a:solidFill>
              </a:rPr>
              <a:t>Extra Sections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06056" y="2514600"/>
            <a:ext cx="2194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97496" y="2578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2E74B5"/>
                </a:solidFill>
              </a:rPr>
              <a:t>What to say: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7496" y="2834640"/>
            <a:ext cx="20116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404040"/>
                </a:solidFill>
              </a:rPr>
              <a:t>Negative value signals a shortfall: 325 more sections are needed than are currently projected. This is a key action indicator.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65208" y="1508760"/>
            <a:ext cx="21945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0928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600">
                <a:solidFill>
                  <a:srgbClr val="404040"/>
                </a:solidFill>
              </a:rPr>
              <a:t>10/16/2024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2011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00">
                <a:solidFill>
                  <a:srgbClr val="404040"/>
                </a:solidFill>
              </a:rPr>
              <a:t>Last Run Date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65208" y="2514600"/>
            <a:ext cx="21945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56648" y="2578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00">
                <a:solidFill>
                  <a:srgbClr val="2E74B5"/>
                </a:solidFill>
              </a:rPr>
              <a:t>What to say: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2834640"/>
            <a:ext cx="20116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404040"/>
                </a:solidFill>
              </a:rPr>
              <a:t>The date the data was last refreshed. Always confirm this before presenting to ensure data is current.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17220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C00000"/>
                </a:solidFill>
              </a:rPr>
              <a:t>Presenter tip: The −325 Extra Sections card is your most important talking point — it directly signals where institutional action is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FFFFFF"/>
                </a:solidFill>
              </a:rPr>
              <a:t>Zone 2  —  Detail Data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404040"/>
                </a:solidFill>
              </a:rPr>
              <a:t>4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04040"/>
                </a:solidFill>
              </a:rPr>
              <a:t>The table breaks down the KPI numbers to the individual course-section level. It shows exactly which courses and delivery formats are driving the headline totals.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08760"/>
            <a:ext cx="3749039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527048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FFFFFF"/>
                </a:solidFill>
              </a:rPr>
              <a:t>SCHEDULE_Run_Date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856231"/>
            <a:ext cx="3749039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9280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C00000"/>
                </a:solidFill>
              </a:rPr>
              <a:t>Sample value: 10/16/2024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48839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404040"/>
                </a:solidFill>
              </a:rPr>
              <a:t>The date the schedule data was captured. All rows in this view share the same run date, confirming data snapshot consistency.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508760"/>
            <a:ext cx="3749039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1527048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FFFFFF"/>
                </a:solidFill>
              </a:rPr>
              <a:t>COURSE_MODALITY_LOCATION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856231"/>
            <a:ext cx="3749039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89280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C00000"/>
                </a:solidFill>
              </a:rPr>
              <a:t>Sample value: BASM-0053-F2F-E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2148839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404040"/>
                </a:solidFill>
              </a:rPr>
              <a:t>A composite key: Course Code + Delivery Mode (F2F = Face-to-Face, ONLINE) + Location code. This single field identifies exactly what is being offered and how.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508760"/>
            <a:ext cx="3749039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527048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FFFFFF"/>
                </a:solidFill>
              </a:rPr>
              <a:t>Sum of Seats_Used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856231"/>
            <a:ext cx="3749039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C00000"/>
                </a:solidFill>
              </a:rPr>
              <a:t>Sample value: 27,307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148839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404040"/>
                </a:solidFill>
              </a:rPr>
              <a:t>Number of students enrolled in that specific course-modality-location combination. Rows aggregate to the grand total shown in the KPI card.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840479"/>
            <a:ext cx="3749039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" y="3858767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FFFFFF"/>
                </a:solidFill>
              </a:rPr>
              <a:t>Sum of Num_Closed_Sections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187951"/>
            <a:ext cx="3749039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22452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C00000"/>
                </a:solidFill>
              </a:rPr>
              <a:t>Sample value: 642 total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480559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404040"/>
                </a:solidFill>
              </a:rPr>
              <a:t>How many of this course-modality's sections have filled to capacity and closed.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840479"/>
            <a:ext cx="3749039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2" y="3858767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FFFFFF"/>
                </a:solidFill>
              </a:rPr>
              <a:t>Sum of Num_Open_Sections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4187951"/>
            <a:ext cx="3749039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79" y="422452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C00000"/>
                </a:solidFill>
              </a:rPr>
              <a:t>Sample value: 1,505 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79" y="4480559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404040"/>
                </a:solidFill>
              </a:rPr>
              <a:t>How many sections for this course-modality still have available seats.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840479"/>
            <a:ext cx="3749039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7031" y="3858767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050">
                <a:solidFill>
                  <a:srgbClr val="FFFFFF"/>
                </a:solidFill>
              </a:rPr>
              <a:t>Projected_Sections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4187951"/>
            <a:ext cx="3749039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19" y="4224527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50">
                <a:solidFill>
                  <a:srgbClr val="C00000"/>
                </a:solidFill>
              </a:rPr>
              <a:t>Sample value: Varies by row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4480559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00">
                <a:solidFill>
                  <a:srgbClr val="404040"/>
                </a:solidFill>
              </a:rPr>
              <a:t>The planned number of sections. Comparing this to actual open/closed counts reveals over- or under-supply — feeds directly into the Extra Sections KPI.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465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2E74B5"/>
                </a:solidFill>
              </a:rPr>
              <a:t>Presenter tip: Scroll or filter the table live to show a specific department or course. The Total row at the bottom always reconciles back to the KPI cards above.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FFFFFF"/>
                </a:solidFill>
              </a:rPr>
              <a:t>Zone 3A  —  Seats Used by Department (Bar Chart)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404040"/>
                </a:solidFill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404040"/>
                </a:solidFill>
              </a:rPr>
              <a:t>This horizontal bar chart answers: Which academic departments have the highest student demand?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029200" cy="438912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32918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100">
                <a:solidFill>
                  <a:srgbClr val="2E74B5"/>
                </a:solidFill>
              </a:rPr>
              <a:t>[Seats Used by Department chart]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645920"/>
            <a:ext cx="3725265" cy="38404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69164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404040"/>
                </a:solidFill>
              </a:rPr>
              <a:t>Mathematics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6825" y="17099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404040"/>
                </a:solidFill>
              </a:rPr>
              <a:t>9,700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468880"/>
            <a:ext cx="1997049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251460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404040"/>
                </a:solidFill>
              </a:rPr>
              <a:t>Biological 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609" y="25328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404040"/>
                </a:solidFill>
              </a:rPr>
              <a:t>5,200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291840"/>
            <a:ext cx="1459382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333756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404040"/>
                </a:solidFill>
              </a:rPr>
              <a:t>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0942" y="33558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404040"/>
                </a:solidFill>
              </a:rPr>
              <a:t>3,800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114800"/>
            <a:ext cx="96012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416052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404040"/>
                </a:solidFill>
              </a:rPr>
              <a:t>Physical Sc.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1788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900">
                <a:solidFill>
                  <a:srgbClr val="404040"/>
                </a:solidFill>
              </a:rPr>
              <a:t>2,500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146304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</a:rPr>
              <a:t>What this chart tells you:</a:t>
            </a:r>
          </a:p>
          <a:p>
            <a:pPr algn="l"/>
            <a:r>
              <a:rPr sz="1200" b="0"/>
              <a:t/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•  Mathematics has the highest seat demand across the institution — this department needs the most section capacity.</a:t>
            </a:r>
          </a:p>
          <a:p>
            <a:pPr algn="l"/>
            <a:r>
              <a:rPr sz="1200" b="0"/>
              <a:t/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•  Biological Sciences and Engineering follow as the next highest demand departments.</a:t>
            </a:r>
          </a:p>
          <a:p>
            <a:pPr algn="l"/>
            <a:r>
              <a:rPr sz="1200" b="0"/>
              <a:t/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•  Physical Sciences has the lowest demand in this view — a signal that fewer sections may be needed there.</a:t>
            </a:r>
          </a:p>
          <a:p>
            <a:pPr algn="l"/>
            <a:r>
              <a:rPr sz="1200" b="0"/>
              <a:t/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•  Use the School Programs filter (top-right of dashboard) to narrow this view to Law, Science, or Technology.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0807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C00000"/>
                </a:solidFill>
              </a:rPr>
              <a:t>Presenter tip: Point to the longest bar and say: "This is where students are concentrating — we need to make sure we have enough sections to meet that demand."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FFFFFF"/>
                </a:solidFill>
              </a:rPr>
              <a:t>Zone 3B  —  Course Modality Location (Donut Chart)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404040"/>
                </a:solidFill>
              </a:rPr>
              <a:t>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404040"/>
                </a:solidFill>
              </a:rPr>
              <a:t>This donut chart answers: How is enrollment distributed across delivery modes, and which courses need attention?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029200" cy="438912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32918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100">
                <a:solidFill>
                  <a:srgbClr val="2E74B5"/>
                </a:solidFill>
              </a:rPr>
              <a:t>[Course Modality Donut Chart]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764792"/>
            <a:ext cx="256032" cy="25603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404040"/>
                </a:solidFill>
              </a:rPr>
              <a:t>47.78%  —  No Action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542032"/>
            <a:ext cx="256032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5146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404040"/>
                </a:solidFill>
              </a:rPr>
              <a:t>19%  —  Watch list — monitor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319272"/>
            <a:ext cx="256032" cy="2560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291839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404040"/>
                </a:solidFill>
              </a:rPr>
              <a:t>9%  —  Build More sections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096512"/>
            <a:ext cx="256032" cy="2560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0690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404040"/>
                </a:solidFill>
              </a:rPr>
              <a:t>71.51%  —  Largest combined 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46304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97D"/>
                </a:solidFill>
              </a:rPr>
              <a:t>What this chart tells you:</a:t>
            </a:r>
          </a:p>
          <a:p>
            <a:pPr algn="l"/>
            <a:r>
              <a:rPr sz="1200" b="0"/>
              <a:t/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•  No Action (47.78%)  —  nearly half of all course-modality combinations are meeting enrollment targets. These are healthy sections requiring no intervention.</a:t>
            </a:r>
          </a:p>
          <a:p>
            <a:pPr algn="l"/>
            <a:r>
              <a:rPr sz="1200" b="0"/>
              <a:t/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•  Watch list  —  these sections are trending toward under-enrollment. They need monitoring but not immediate action.</a:t>
            </a:r>
          </a:p>
          <a:p>
            <a:pPr algn="l"/>
            <a:r>
              <a:rPr sz="1200" b="0"/>
              <a:t/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•  Build More  —  these sections are over-subscribed. Additional sections should be opened to meet demand.</a:t>
            </a:r>
          </a:p>
          <a:p>
            <a:pPr algn="l"/>
            <a:r>
              <a:rPr sz="1200" b="0"/>
              <a:t/>
            </a:r>
          </a:p>
          <a:p>
            <a:pPr algn="l"/>
            <a:r>
              <a:rPr sz="1200" b="0">
                <a:solidFill>
                  <a:srgbClr val="404040"/>
                </a:solidFill>
              </a:rPr>
              <a:t>•  The Action_Flag categories allow academic schedulers to prioritise which courses need immediate scheduling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0807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C00000"/>
                </a:solidFill>
              </a:rPr>
              <a:t>Presenter tip: The 'Build More' slice directly correlates with the −325 Extra Sections KPI. These are the courses driving that shortfall.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FFFFFF"/>
                </a:solidFill>
              </a:rPr>
              <a:t>Zone 4  —  Open Fill Rate % by Course (Bar Chart)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404040"/>
                </a:solidFill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404040"/>
                </a:solidFill>
              </a:rPr>
              <a:t>This vertical bar chart answers: For each course, what percentage of open-section capacity is already filled?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1612880" cy="3566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82496"/>
            <a:ext cx="713232" cy="243230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98348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50">
                <a:solidFill>
                  <a:srgbClr val="404040"/>
                </a:solidFill>
              </a:rPr>
              <a:t>BIOL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08176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404040"/>
                </a:solidFill>
              </a:rPr>
              <a:t>95%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99032" y="1759305"/>
            <a:ext cx="713232" cy="235549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498348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50">
                <a:solidFill>
                  <a:srgbClr val="404040"/>
                </a:solidFill>
              </a:rPr>
              <a:t>MATH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1484985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404040"/>
                </a:solidFill>
              </a:rPr>
              <a:t>92%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95144" y="1861718"/>
            <a:ext cx="713232" cy="22530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5144" y="498348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50">
                <a:solidFill>
                  <a:srgbClr val="404040"/>
                </a:solidFill>
              </a:rPr>
              <a:t>BIOL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5144" y="158739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404040"/>
                </a:solidFill>
              </a:rPr>
              <a:t>88%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91256" y="1938528"/>
            <a:ext cx="713232" cy="21762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1256" y="498348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50">
                <a:solidFill>
                  <a:srgbClr val="404040"/>
                </a:solidFill>
              </a:rPr>
              <a:t>BIOL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1256" y="166420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404040"/>
                </a:solidFill>
              </a:rPr>
              <a:t>85%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87368" y="2066543"/>
            <a:ext cx="713232" cy="20482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7368" y="498348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50">
                <a:solidFill>
                  <a:srgbClr val="404040"/>
                </a:solidFill>
              </a:rPr>
              <a:t>CHEM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7368" y="1792223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404040"/>
                </a:solidFill>
              </a:rPr>
              <a:t>80%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2220163"/>
            <a:ext cx="713232" cy="189463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498348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50">
                <a:solidFill>
                  <a:srgbClr val="404040"/>
                </a:solidFill>
              </a:rPr>
              <a:t>CHAR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1945843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404040"/>
                </a:solidFill>
              </a:rPr>
              <a:t>74%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79592" y="2373782"/>
            <a:ext cx="713232" cy="174101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9592" y="498348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50">
                <a:solidFill>
                  <a:srgbClr val="404040"/>
                </a:solidFill>
              </a:rPr>
              <a:t>DAMS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9592" y="2099462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404040"/>
                </a:solidFill>
              </a:rPr>
              <a:t>68%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75703" y="2578608"/>
            <a:ext cx="713232" cy="15361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5703" y="498348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50">
                <a:solidFill>
                  <a:srgbClr val="404040"/>
                </a:solidFill>
              </a:rPr>
              <a:t>BIOL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3" y="230428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404040"/>
                </a:solidFill>
              </a:rPr>
              <a:t>60%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71816" y="2706624"/>
            <a:ext cx="713232" cy="1408176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71816" y="498348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50">
                <a:solidFill>
                  <a:srgbClr val="404040"/>
                </a:solidFill>
              </a:rPr>
              <a:t>MATH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1816" y="2432304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404040"/>
                </a:solidFill>
              </a:rPr>
              <a:t>55%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67928" y="2834639"/>
            <a:ext cx="713232" cy="1280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67928" y="498348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50">
                <a:solidFill>
                  <a:srgbClr val="404040"/>
                </a:solidFill>
              </a:rPr>
              <a:t>BIOL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256032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404040"/>
                </a:solidFill>
              </a:rPr>
              <a:t>50%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4040" y="2962656"/>
            <a:ext cx="713232" cy="115214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64040" y="498348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50">
                <a:solidFill>
                  <a:srgbClr val="404040"/>
                </a:solidFill>
              </a:rPr>
              <a:t>CHEM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2688336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404040"/>
                </a:solidFill>
              </a:rPr>
              <a:t>45%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60152" y="3090672"/>
            <a:ext cx="713232" cy="1024127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60152" y="498348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750">
                <a:solidFill>
                  <a:srgbClr val="404040"/>
                </a:solidFill>
              </a:rPr>
              <a:t>CHAR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0152" y="2816352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800">
                <a:solidFill>
                  <a:srgbClr val="404040"/>
                </a:solidFill>
              </a:rPr>
              <a:t>40%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15087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404040"/>
                </a:solidFill>
              </a:rP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461772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800">
                <a:solidFill>
                  <a:srgbClr val="404040"/>
                </a:solidFill>
              </a:rPr>
              <a:t>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5285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404040"/>
                </a:solidFill>
              </a:rPr>
              <a:t>Course Name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5532120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97D"/>
                </a:solidFill>
              </a:rPr>
              <a:t>How to read this chart:</a:t>
            </a:r>
          </a:p>
          <a:p>
            <a:pPr algn="l"/>
            <a:r>
              <a:rPr sz="1100" b="0"/>
              <a:t/>
            </a:r>
          </a:p>
          <a:p>
            <a:pPr algn="l"/>
            <a:r>
              <a:rPr sz="1100" b="0">
                <a:solidFill>
                  <a:srgbClr val="C00000"/>
                </a:solidFill>
              </a:rPr>
              <a:t>•  Red bars (85–100%)  —  these courses are nearly full. New sections should be opened immediately to avoid turning students away.</a:t>
            </a:r>
          </a:p>
          <a:p>
            <a:pPr algn="l"/>
            <a:r>
              <a:rPr sz="1100" b="0"/>
              <a:t/>
            </a:r>
          </a:p>
          <a:p>
            <a:pPr algn="l"/>
            <a:r>
              <a:rPr sz="1100" b="0">
                <a:solidFill>
                  <a:srgbClr val="ED7D31"/>
                </a:solidFill>
              </a:rPr>
              <a:t>•  Orange bars (60–84%)  —  filling steadily. Monitor and be ready to add sections if trend continues.</a:t>
            </a:r>
          </a:p>
          <a:p>
            <a:pPr algn="l"/>
            <a:r>
              <a:rPr sz="1100" b="0"/>
              <a:t/>
            </a:r>
          </a:p>
          <a:p>
            <a:pPr algn="l"/>
            <a:r>
              <a:rPr sz="1100" b="0">
                <a:solidFill>
                  <a:srgbClr val="70AD47"/>
                </a:solidFill>
              </a:rPr>
              <a:t>•  Green bars (below 60%)  —  sections have ample capacity. No immediate action needed; watch for declining enrollment.</a:t>
            </a:r>
          </a:p>
          <a:p>
            <a:pPr algn="l"/>
            <a:r>
              <a:rPr sz="1100" b="0"/>
              <a:t/>
            </a:r>
          </a:p>
          <a:p>
            <a:pPr algn="l"/>
            <a:r>
              <a:rPr sz="1100" b="0">
                <a:solidFill>
                  <a:srgbClr val="404040"/>
                </a:solidFill>
              </a:rPr>
              <a:t>•  Courses are shown on the X-axis by code (BIOL, MATH, CHEM, etc.). Hover over any bar in the live dashboard to see the exact fill rate.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00">
                <a:solidFill>
                  <a:srgbClr val="C00000"/>
                </a:solidFill>
              </a:rPr>
              <a:t>Presenter tip: Highlight the tallest red bars first. These are your most urgent scheduling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200">
                <a:solidFill>
                  <a:srgbClr val="FFFFFF"/>
                </a:solidFill>
              </a:rPr>
              <a:t>Presenter Talking Points  —  Putting It All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404040"/>
                </a:solidFill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404040"/>
                </a:solidFill>
              </a:rPr>
              <a:t>Use these narrative threads to connect every part of the dashboard into one coherent story: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657600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Opening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10512"/>
            <a:ext cx="365760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745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404040"/>
                </a:solidFill>
              </a:rPr>
              <a:t>"As of October 16, 2024, we have 27,307 students enrolled across our active sections. 642 sections are already at capacity and 1,505 remain open — but we are running 325 sections short of what we projected."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365760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810512"/>
            <a:ext cx="365760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8745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404040"/>
                </a:solidFill>
              </a:rPr>
              <a:t>"The −325 Extra Sections gap is driven by the courses you see in the red bars on the right chart — particularly BIOL and MATH, which are filling at over 85%. We need to act on these quickly."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657600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The opportunity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810512"/>
            <a:ext cx="365760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8745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404040"/>
                </a:solidFill>
              </a:rPr>
              <a:t>"Nearly 48% of our course offerings are flagged No Action — they are healthy. The Watch list courses (roughly 19%) give us early warning before they become a problem."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69080"/>
            <a:ext cx="3657600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873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Department lens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16552"/>
            <a:ext cx="365760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48056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404040"/>
                </a:solidFill>
              </a:rPr>
              <a:t>"Mathematics accounts for the largest share of seat demand. If we cannot open more math sections, we risk students being unable to complete required coursework on schedule."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069080"/>
            <a:ext cx="365760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40873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</a:rPr>
              <a:t>Call to 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416552"/>
            <a:ext cx="365760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79" y="448056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050">
                <a:solidFill>
                  <a:srgbClr val="404040"/>
                </a:solidFill>
              </a:rPr>
              <a:t>"Today we need decisions on the courses in the 'Build More' category. I recommend we prioritise the top five red-bar courses and confirm instructor and room availability this week."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000">
                <a:solidFill>
                  <a:srgbClr val="C00000"/>
                </a:solidFill>
              </a:rPr>
              <a:t>Remember: always check the Last Run Date before presenting. Stale data undermines credibility.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