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1C472-E87E-426E-5161-7F5466063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E2A60B-286A-5C8E-F1D1-AA7B0FE3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17FFF-3C5F-2579-954A-A3F7A1ABD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E65D-21F0-49E3-853F-B86E582EEBA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3AC17-F51E-043E-EAE3-CCFE67B5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6E015-9828-A78D-A9F7-7BCA13947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1E94-34F6-403E-BF32-6A52E1617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22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3F181-3941-B06A-41BD-28762C1D0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BA6F3-69C2-F159-B804-3EFA2A3B8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09ABF-F5C7-A42C-F6B4-DF9069295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E65D-21F0-49E3-853F-B86E582EEBA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D578C-FB2E-6301-09E5-99C7E2D92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A14C3-A79C-7F89-7EB3-F3F88AB8F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1E94-34F6-403E-BF32-6A52E1617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392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20FB0-3B55-B9AA-EEB3-B55B5EBD7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9A21D-94E0-4B25-0E5D-24C2AE3DB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6A226-E09F-6445-55B9-009E95762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E65D-21F0-49E3-853F-B86E582EEBA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2640B-E8E7-C6B0-9425-4ECA0D75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3E165-09C0-1CD5-BE80-536DD4D48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1E94-34F6-403E-BF32-6A52E1617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7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205A0-3383-CCDE-9324-685B348E7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D2BBC-DE85-5C92-C7B4-005AAD5A62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0A815-484B-2560-9C96-0A046AE07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02A3D-0430-2B25-3DA2-558AD517C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E65D-21F0-49E3-853F-B86E582EEBA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CA942-A88D-F64D-9128-ECE7E224F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3C514-ABBB-0DBF-B406-ED3EDD75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1E94-34F6-403E-BF32-6A52E1617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378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E229E-4F7D-AFD4-6455-024C8ED40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0C50B-28FA-E315-AB79-21137FA14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A89F1-66E2-4DEC-9A0C-28684915F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666510-1C61-E9F3-0CF5-477D8FF61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E14828-5DDF-1B06-A680-25C4673330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8049F3-9DC6-E8C5-C562-AD86DC39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E65D-21F0-49E3-853F-B86E582EEBA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4412A-A0A3-A3C9-CE87-8A7E261A4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A8F420-82BD-48E5-8F7F-E600903E5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1E94-34F6-403E-BF32-6A52E1617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49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432EF-4F23-1162-8D65-44268ED13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7E220F-0B5B-BAD6-9B66-D99676150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E65D-21F0-49E3-853F-B86E582EEBA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F3BA77-366C-141C-7C56-C62DC2B9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403E61-16A2-3093-2A96-58DBE8DA6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1E94-34F6-403E-BF32-6A52E1617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47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CFCB65-5502-191A-D395-CA0DDA4E2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E65D-21F0-49E3-853F-B86E582EEBA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F9334-A49E-342F-CF19-05CAEACDC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1B110-D59F-CDE2-AC5A-4DBE09C9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1E94-34F6-403E-BF32-6A52E1617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11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565AA-F625-03BA-C2B5-4B9DA49F2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D4F45-3088-056A-BE13-D3A2FA101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7A8E0-C5BA-E790-8FB8-05D956CEB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D8A29-FDCD-3916-0C95-126D3D039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E65D-21F0-49E3-853F-B86E582EEBA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F679D-DF49-46C8-EFF9-02BA3B329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37623-A17D-E1DF-47A7-54DFF1645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1E94-34F6-403E-BF32-6A52E1617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683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1FB6-E383-FCA8-E7DF-6C5E1C36E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FAC173-2C73-3770-ECA3-020ABC923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736B3-8E34-D9CA-CA30-1EDBBFB2B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68C6F-7F8A-8754-4907-5729C1851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E65D-21F0-49E3-853F-B86E582EEBA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A992B-212E-A7A3-0D2D-ED5D0FC0A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9BC22-DBF7-2260-7298-D0A8D1B9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1E94-34F6-403E-BF32-6A52E1617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381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618EA-A1C2-DF83-CDBE-D1E4E63E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21727B-E7B7-993B-4739-FB36CFCD0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CAA1-94CB-B9AC-D140-BD6690414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E65D-21F0-49E3-853F-B86E582EEBA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A0DD3-9BDE-05B4-9AEC-17E4CB86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279A7-6943-C143-C410-DE9383E27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1E94-34F6-403E-BF32-6A52E1617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00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5F9CEC-04BF-9122-C5AA-786B97F3D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6AED22-0270-6E6B-90E4-C76749E0B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D6CC2-3695-1D7E-0146-770BA3391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E65D-21F0-49E3-853F-B86E582EEBA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DA18A-2FAE-3E9B-9293-F471FBC7E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BF145-22F8-AB10-D9B7-549B6052C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1E94-34F6-403E-BF32-6A52E1617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02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39519-6827-AD19-9A53-961892100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91916-B91E-A536-AE97-B0A64E878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8A209-0C99-EFAB-E533-AB8C1B009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5DE65D-21F0-49E3-853F-B86E582EEBA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617ED-9B48-C5C4-6FAD-C0FDD4C70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474B0-814D-B1CA-1A36-361F8EDDA0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41E94-34F6-403E-BF32-6A52E1617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39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29B99-7976-E800-5F59-E817D8309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778000"/>
            <a:ext cx="14732000" cy="1270000"/>
          </a:xfrm>
        </p:spPr>
        <p:txBody>
          <a:bodyPr>
            <a:normAutofit/>
          </a:bodyPr>
          <a:lstStyle/>
          <a:p>
            <a:r>
              <a:rPr lang="en-US" sz="4400" b="1">
                <a:solidFill>
                  <a:srgbClr val="FFFFFF"/>
                </a:solidFill>
                <a:latin typeface="Arial" panose="020B0604020202020204" pitchFamily="34" charset="0"/>
              </a:rPr>
              <a:t>AI INTERVIEW INBOX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2129B0-C3C7-F7B3-091C-ECBC4E988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8000" y="3556000"/>
            <a:ext cx="12700000" cy="15240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3A7BFF"/>
                </a:solidFill>
                <a:latin typeface="Calibri" panose="020F0502020204030204" pitchFamily="34" charset="0"/>
              </a:rPr>
              <a:t>Executive Architecture &amp; KPI Overview
AI-Powered Operational Intelligence System</a:t>
            </a:r>
          </a:p>
        </p:txBody>
      </p:sp>
    </p:spTree>
    <p:extLst>
      <p:ext uri="{BB962C8B-B14F-4D97-AF65-F5344CB8AC3E}">
        <p14:creationId xmlns:p14="http://schemas.microsoft.com/office/powerpoint/2010/main" val="354050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528DA3-77AA-FC5C-C490-5061D9980074}"/>
              </a:ext>
            </a:extLst>
          </p:cNvPr>
          <p:cNvSpPr/>
          <p:nvPr/>
        </p:nvSpPr>
        <p:spPr>
          <a:xfrm>
            <a:off x="762000" y="1524000"/>
            <a:ext cx="4191000" cy="3048000"/>
          </a:xfrm>
          <a:prstGeom prst="rect">
            <a:avLst/>
          </a:prstGeom>
          <a:solidFill>
            <a:srgbClr val="2E2E2E"/>
          </a:solidFill>
          <a:ln>
            <a:solidFill>
              <a:srgbClr val="3A7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EMAIL INTAKE
Student -&gt; Recruiter Email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6D7FA6-74B9-CEE1-4D35-15838C2FA454}"/>
              </a:ext>
            </a:extLst>
          </p:cNvPr>
          <p:cNvSpPr/>
          <p:nvPr/>
        </p:nvSpPr>
        <p:spPr>
          <a:xfrm>
            <a:off x="5905500" y="1524000"/>
            <a:ext cx="4191000" cy="3048000"/>
          </a:xfrm>
          <a:prstGeom prst="rect">
            <a:avLst/>
          </a:prstGeom>
          <a:solidFill>
            <a:srgbClr val="2E2E2E"/>
          </a:solidFill>
          <a:ln>
            <a:solidFill>
              <a:srgbClr val="3A7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 panose="020F0502020204030204" pitchFamily="34" charset="0"/>
              </a:rPr>
              <a:t>AI DECISION ENGINE
Classification
Data Extraction
Confidence Scoring
Business Rules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9207EE-818A-7A82-1BDE-32FE541F2DAE}"/>
              </a:ext>
            </a:extLst>
          </p:cNvPr>
          <p:cNvSpPr/>
          <p:nvPr/>
        </p:nvSpPr>
        <p:spPr>
          <a:xfrm>
            <a:off x="11049000" y="1524000"/>
            <a:ext cx="4191000" cy="3048000"/>
          </a:xfrm>
          <a:prstGeom prst="rect">
            <a:avLst/>
          </a:prstGeom>
          <a:solidFill>
            <a:srgbClr val="2E2E2E"/>
          </a:solidFill>
          <a:ln>
            <a:solidFill>
              <a:srgbClr val="3A7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 panose="020F0502020204030204" pitchFamily="34" charset="0"/>
              </a:rPr>
              <a:t>AUTOMATED ACTIONS
Live Tracking
Secure Logging
Instant Student Alerts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CDC93C-E062-A59A-AAE8-A8DE252A9DEC}"/>
              </a:ext>
            </a:extLst>
          </p:cNvPr>
          <p:cNvSpPr txBox="1"/>
          <p:nvPr/>
        </p:nvSpPr>
        <p:spPr>
          <a:xfrm>
            <a:off x="5143500" y="2603500"/>
            <a:ext cx="5715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600" b="1">
                <a:solidFill>
                  <a:srgbClr val="3A7BFF"/>
                </a:solidFill>
                <a:latin typeface="Arial" panose="020B0604020202020204" pitchFamily="34" charset="0"/>
              </a:rPr>
              <a:t>-&gt;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D2733D-DEA5-9BFB-4D86-D4DF9B90E0B8}"/>
              </a:ext>
            </a:extLst>
          </p:cNvPr>
          <p:cNvSpPr txBox="1"/>
          <p:nvPr/>
        </p:nvSpPr>
        <p:spPr>
          <a:xfrm>
            <a:off x="10287000" y="2603500"/>
            <a:ext cx="5715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600" b="1">
                <a:solidFill>
                  <a:srgbClr val="3A7BFF"/>
                </a:solidFill>
                <a:latin typeface="Arial" panose="020B0604020202020204" pitchFamily="34" charset="0"/>
              </a:rPr>
              <a:t>-&gt;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F826AC-1F7A-9D94-A838-B1B65606E5D2}"/>
              </a:ext>
            </a:extLst>
          </p:cNvPr>
          <p:cNvSpPr txBox="1"/>
          <p:nvPr/>
        </p:nvSpPr>
        <p:spPr>
          <a:xfrm>
            <a:off x="762000" y="5334000"/>
            <a:ext cx="144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200" b="1">
                <a:solidFill>
                  <a:srgbClr val="3A7BFF"/>
                </a:solidFill>
                <a:latin typeface="Arial" panose="020B0604020202020204" pitchFamily="34" charset="0"/>
              </a:rPr>
              <a:t>HUMAN OVERSIGHT  |  Low Confidence -&gt; Manual Review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ED0B24-1FE3-D37F-03B1-A064F89AFD1E}"/>
              </a:ext>
            </a:extLst>
          </p:cNvPr>
          <p:cNvSpPr txBox="1"/>
          <p:nvPr/>
        </p:nvSpPr>
        <p:spPr>
          <a:xfrm>
            <a:off x="762000" y="6350000"/>
            <a:ext cx="14478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Calibri" panose="020F0502020204030204" pitchFamily="34" charset="0"/>
              </a:rPr>
              <a:t>&lt; 30 sec processing | 95%+ accuracy | &lt;5% manual review | Real-time alerts</a:t>
            </a:r>
          </a:p>
        </p:txBody>
      </p:sp>
    </p:spTree>
    <p:extLst>
      <p:ext uri="{BB962C8B-B14F-4D97-AF65-F5344CB8AC3E}">
        <p14:creationId xmlns:p14="http://schemas.microsoft.com/office/powerpoint/2010/main" val="413972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1C31C8-32B0-6A9E-BB80-5D3CD6EE35C9}"/>
              </a:ext>
            </a:extLst>
          </p:cNvPr>
          <p:cNvSpPr txBox="1"/>
          <p:nvPr/>
        </p:nvSpPr>
        <p:spPr>
          <a:xfrm>
            <a:off x="1524000" y="508000"/>
            <a:ext cx="13716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400" b="1">
                <a:solidFill>
                  <a:srgbClr val="FFFFFF"/>
                </a:solidFill>
                <a:latin typeface="Arial" panose="020B0604020202020204" pitchFamily="34" charset="0"/>
              </a:rPr>
              <a:t>OPERATIONAL PERFORMANCE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450AEE-C517-EF17-15DF-542F76352778}"/>
              </a:ext>
            </a:extLst>
          </p:cNvPr>
          <p:cNvSpPr/>
          <p:nvPr/>
        </p:nvSpPr>
        <p:spPr>
          <a:xfrm>
            <a:off x="889000" y="1778000"/>
            <a:ext cx="3429000" cy="2159000"/>
          </a:xfrm>
          <a:prstGeom prst="rect">
            <a:avLst/>
          </a:prstGeom>
          <a:solidFill>
            <a:srgbClr val="2E2E2E"/>
          </a:solidFill>
          <a:ln>
            <a:solidFill>
              <a:srgbClr val="3A7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&lt; 30 Seconds
Average Processing Time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DFDCF2-4451-5DE0-1D56-1BB320AB3FE1}"/>
              </a:ext>
            </a:extLst>
          </p:cNvPr>
          <p:cNvSpPr/>
          <p:nvPr/>
        </p:nvSpPr>
        <p:spPr>
          <a:xfrm>
            <a:off x="4572000" y="1778000"/>
            <a:ext cx="3429000" cy="2159000"/>
          </a:xfrm>
          <a:prstGeom prst="rect">
            <a:avLst/>
          </a:prstGeom>
          <a:solidFill>
            <a:srgbClr val="2E2E2E"/>
          </a:solidFill>
          <a:ln>
            <a:solidFill>
              <a:srgbClr val="3A7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95%+
Classification Accuracy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634AC4-886F-A026-D4EB-9AD87A4CB613}"/>
              </a:ext>
            </a:extLst>
          </p:cNvPr>
          <p:cNvSpPr/>
          <p:nvPr/>
        </p:nvSpPr>
        <p:spPr>
          <a:xfrm>
            <a:off x="8255000" y="1778000"/>
            <a:ext cx="3429000" cy="2159000"/>
          </a:xfrm>
          <a:prstGeom prst="rect">
            <a:avLst/>
          </a:prstGeom>
          <a:solidFill>
            <a:srgbClr val="2E2E2E"/>
          </a:solidFill>
          <a:ln>
            <a:solidFill>
              <a:srgbClr val="3A7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&lt; 5%
Manual Review Rate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79ADBF-2111-D601-162E-219E0FABD853}"/>
              </a:ext>
            </a:extLst>
          </p:cNvPr>
          <p:cNvSpPr/>
          <p:nvPr/>
        </p:nvSpPr>
        <p:spPr>
          <a:xfrm>
            <a:off x="11938000" y="1778000"/>
            <a:ext cx="3429000" cy="2159000"/>
          </a:xfrm>
          <a:prstGeom prst="rect">
            <a:avLst/>
          </a:prstGeom>
          <a:solidFill>
            <a:srgbClr val="2E2E2E"/>
          </a:solidFill>
          <a:ln>
            <a:solidFill>
              <a:srgbClr val="3A7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Calibri" panose="020F0502020204030204" pitchFamily="34" charset="0"/>
              </a:rPr>
              <a:t>98%+
WhatsApp Delivery Success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6ECBF5-C0FD-4239-AA73-51F81802569A}"/>
              </a:ext>
            </a:extLst>
          </p:cNvPr>
          <p:cNvSpPr txBox="1"/>
          <p:nvPr/>
        </p:nvSpPr>
        <p:spPr>
          <a:xfrm>
            <a:off x="2286000" y="4826000"/>
            <a:ext cx="1168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3A7BFF"/>
                </a:solidFill>
                <a:latin typeface="Calibri" panose="020F0502020204030204" pitchFamily="34" charset="0"/>
              </a:rPr>
              <a:t>Classification Accuracy - 95%
WhatsApp Delivery - 98%
Manual Review Rate - 5%</a:t>
            </a:r>
          </a:p>
        </p:txBody>
      </p:sp>
    </p:spTree>
    <p:extLst>
      <p:ext uri="{BB962C8B-B14F-4D97-AF65-F5344CB8AC3E}">
        <p14:creationId xmlns:p14="http://schemas.microsoft.com/office/powerpoint/2010/main" val="1162188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AI INTERVIEW INBOX AUTOMATION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 Campbell</dc:creator>
  <cp:lastModifiedBy>Lauren Campbell</cp:lastModifiedBy>
  <cp:revision>1</cp:revision>
  <dcterms:created xsi:type="dcterms:W3CDTF">2026-03-03T15:00:12Z</dcterms:created>
  <dcterms:modified xsi:type="dcterms:W3CDTF">2026-03-03T15:00:20Z</dcterms:modified>
</cp:coreProperties>
</file>